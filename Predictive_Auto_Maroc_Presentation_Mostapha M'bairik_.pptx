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49137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E293B"/>
                </a:solidFill>
                <a:latin typeface="Montserrat"/>
              </a:defRPr>
            </a:pPr>
            <a:r>
              <a:rPr dirty="0"/>
              <a:t>Predictive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3579" y="3117667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E293B"/>
                </a:solidFill>
                <a:latin typeface="Montserrat"/>
              </a:defRPr>
            </a:pPr>
            <a:r>
              <a:rPr dirty="0"/>
              <a:t>Auto Maroc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4848" y="4132216"/>
            <a:ext cx="5888736" cy="457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452259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ontserrat"/>
              </a:defRPr>
            </a:pPr>
            <a:r>
              <a:rPr sz="2000" dirty="0" err="1"/>
              <a:t>Analyse</a:t>
            </a:r>
            <a:r>
              <a:rPr sz="2000" dirty="0"/>
              <a:t> </a:t>
            </a:r>
            <a:r>
              <a:rPr sz="2000" dirty="0" err="1"/>
              <a:t>Prédictive</a:t>
            </a:r>
            <a:r>
              <a:rPr sz="2000" dirty="0"/>
              <a:t> du Marché </a:t>
            </a:r>
            <a:r>
              <a:rPr sz="2000" dirty="0" err="1"/>
              <a:t>d'Occasion</a:t>
            </a:r>
            <a:r>
              <a:rPr sz="2000" dirty="0"/>
              <a:t> Automobile au Maroc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522" y="4990292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Montserrat"/>
              </a:defRPr>
            </a:pPr>
            <a:r>
              <a:rPr dirty="0"/>
              <a:t>31 041 </a:t>
            </a:r>
            <a:r>
              <a:rPr dirty="0" err="1"/>
              <a:t>annonces</a:t>
            </a:r>
            <a:r>
              <a:rPr dirty="0"/>
              <a:t>  ·  </a:t>
            </a:r>
            <a:r>
              <a:rPr dirty="0" err="1"/>
              <a:t>Moteur</a:t>
            </a:r>
            <a:r>
              <a:rPr lang="fr-FR" dirty="0"/>
              <a:t>.ma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2273EE-C5F6-C8CF-8F6B-C7FBA953A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937" y="-183222"/>
            <a:ext cx="1596798" cy="1596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3332BF-E95D-17FA-2B10-8E19C0201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200" y="79260"/>
            <a:ext cx="3053302" cy="91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C6E1F2-C0D5-D3D7-56C2-46E412271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684" y="356800"/>
            <a:ext cx="2025363" cy="5780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BAB07C-F7CF-E7F5-9EB6-E04BD6883BFD}"/>
              </a:ext>
            </a:extLst>
          </p:cNvPr>
          <p:cNvSpPr txBox="1"/>
          <p:nvPr/>
        </p:nvSpPr>
        <p:spPr>
          <a:xfrm>
            <a:off x="731520" y="1479921"/>
            <a:ext cx="10698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ontserrat"/>
              </a:defRPr>
            </a:pPr>
            <a:r>
              <a:rPr lang="fr-FR" b="1" dirty="0">
                <a:solidFill>
                  <a:srgbClr val="94A3B8"/>
                </a:solidFill>
                <a:effectLst/>
              </a:rPr>
              <a:t>MOSTAPHA M'BAIRIK | DATA ANALYST | PROJET FIL ROUGE 2026</a:t>
            </a:r>
            <a:endParaRPr b="1" dirty="0">
              <a:solidFill>
                <a:srgbClr val="94A3B8"/>
              </a:solidFill>
              <a:effectLst/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C67B34CC-4B5C-B5C5-8C05-B6924FF941CF}"/>
              </a:ext>
            </a:extLst>
          </p:cNvPr>
          <p:cNvSpPr/>
          <p:nvPr/>
        </p:nvSpPr>
        <p:spPr>
          <a:xfrm>
            <a:off x="305" y="6815328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E176DC-36D7-7F5C-7F1C-2DF2A8B4B028}"/>
              </a:ext>
            </a:extLst>
          </p:cNvPr>
          <p:cNvSpPr txBox="1"/>
          <p:nvPr/>
        </p:nvSpPr>
        <p:spPr>
          <a:xfrm>
            <a:off x="4645790" y="5710583"/>
            <a:ext cx="25468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Encardé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par : Mr Omar Hitar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4D7CF-0660-7497-AEDE-C30A8A9C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EC9514-DF6E-F4D4-B134-0B867CACB307}"/>
              </a:ext>
            </a:extLst>
          </p:cNvPr>
          <p:cNvSpPr txBox="1"/>
          <p:nvPr/>
        </p:nvSpPr>
        <p:spPr>
          <a:xfrm>
            <a:off x="1511808" y="1164336"/>
            <a:ext cx="957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93B"/>
                </a:solidFill>
                <a:latin typeface="Montserrat"/>
              </a:defRPr>
            </a:pPr>
            <a:r>
              <a:rPr lang="fr-FR" sz="2400" b="1" dirty="0">
                <a:solidFill>
                  <a:srgbClr val="FFC000"/>
                </a:solidFill>
              </a:rPr>
              <a:t>1- </a:t>
            </a:r>
            <a:r>
              <a:rPr lang="fr-FR" sz="2400" b="1" dirty="0"/>
              <a:t>La Chaîne de Valeur de la Donnée</a:t>
            </a:r>
            <a:endParaRPr sz="2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375F4C-E45F-29F9-9767-22A3E2CF379E}"/>
              </a:ext>
            </a:extLst>
          </p:cNvPr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0E28D6-9ACB-8FB7-028C-B8BF4E05694B}"/>
              </a:ext>
            </a:extLst>
          </p:cNvPr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ontserrat"/>
              </a:defRPr>
            </a:pPr>
            <a:r>
              <a:t>Predictive Auto Maroc  ·  Mostapha M'Bairik — Data Analyst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D31874-C4BD-CECA-C3A3-BD830D6ADB2B}"/>
              </a:ext>
            </a:extLst>
          </p:cNvPr>
          <p:cNvSpPr txBox="1"/>
          <p:nvPr/>
        </p:nvSpPr>
        <p:spPr>
          <a:xfrm>
            <a:off x="1624584" y="1921871"/>
            <a:ext cx="957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93B"/>
                </a:solidFill>
                <a:latin typeface="Montserrat"/>
              </a:defRPr>
            </a:pPr>
            <a:r>
              <a:rPr lang="fr-FR" sz="2400" b="1" dirty="0">
                <a:solidFill>
                  <a:srgbClr val="FFC000"/>
                </a:solidFill>
              </a:rPr>
              <a:t>2- </a:t>
            </a:r>
            <a:r>
              <a:rPr lang="fr-FR" sz="2400" b="1" dirty="0"/>
              <a:t>Architecture Technique et Modélisation</a:t>
            </a:r>
            <a:endParaRPr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2ADCFC-08D6-CEB8-5FF2-A3DFF23CCBDB}"/>
              </a:ext>
            </a:extLst>
          </p:cNvPr>
          <p:cNvSpPr txBox="1"/>
          <p:nvPr/>
        </p:nvSpPr>
        <p:spPr>
          <a:xfrm>
            <a:off x="1862328" y="2674727"/>
            <a:ext cx="957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93B"/>
                </a:solidFill>
                <a:latin typeface="Montserrat"/>
              </a:defRPr>
            </a:pPr>
            <a:r>
              <a:rPr lang="fr-FR" sz="2400" b="1" dirty="0">
                <a:solidFill>
                  <a:srgbClr val="FFC000"/>
                </a:solidFill>
              </a:rPr>
              <a:t>3- </a:t>
            </a:r>
            <a:r>
              <a:rPr lang="fr-FR" sz="2400" b="1" dirty="0"/>
              <a:t>Analyse Macro-Économique</a:t>
            </a:r>
            <a:endParaRPr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FC0884-43B1-77EB-0E10-0854015EE6F2}"/>
              </a:ext>
            </a:extLst>
          </p:cNvPr>
          <p:cNvSpPr txBox="1"/>
          <p:nvPr/>
        </p:nvSpPr>
        <p:spPr>
          <a:xfrm>
            <a:off x="2014728" y="3485495"/>
            <a:ext cx="957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93B"/>
                </a:solidFill>
                <a:latin typeface="Montserrat"/>
              </a:defRPr>
            </a:pPr>
            <a:r>
              <a:rPr lang="fr-FR" sz="2400" b="1" dirty="0">
                <a:solidFill>
                  <a:srgbClr val="FFC000"/>
                </a:solidFill>
              </a:rPr>
              <a:t>4- </a:t>
            </a:r>
            <a:r>
              <a:rPr lang="fr-FR" sz="2400" b="1" dirty="0"/>
              <a:t>Analyse Comportementale</a:t>
            </a:r>
            <a:endParaRPr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0395E8-926D-E2ED-FB6D-8B1A4CF526C8}"/>
              </a:ext>
            </a:extLst>
          </p:cNvPr>
          <p:cNvSpPr txBox="1"/>
          <p:nvPr/>
        </p:nvSpPr>
        <p:spPr>
          <a:xfrm>
            <a:off x="2167128" y="4296263"/>
            <a:ext cx="957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93B"/>
                </a:solidFill>
                <a:latin typeface="Montserrat"/>
              </a:defRPr>
            </a:pPr>
            <a:r>
              <a:rPr lang="fr-FR" sz="2400" b="1" dirty="0">
                <a:solidFill>
                  <a:srgbClr val="FFC000"/>
                </a:solidFill>
              </a:rPr>
              <a:t>5- </a:t>
            </a:r>
            <a:r>
              <a:rPr lang="fr-FR" sz="2400" b="1" dirty="0"/>
              <a:t>Le Produit Data : Écosystème de notre modèle IA</a:t>
            </a:r>
            <a:endParaRPr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A97CBA-F7A6-22A7-0D04-2E2F84BF240B}"/>
              </a:ext>
            </a:extLst>
          </p:cNvPr>
          <p:cNvSpPr txBox="1"/>
          <p:nvPr/>
        </p:nvSpPr>
        <p:spPr>
          <a:xfrm>
            <a:off x="2319528" y="5107031"/>
            <a:ext cx="957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93B"/>
                </a:solidFill>
                <a:latin typeface="Montserrat"/>
              </a:defRPr>
            </a:pPr>
            <a:r>
              <a:rPr lang="fr-FR" sz="2400" b="1" dirty="0">
                <a:solidFill>
                  <a:srgbClr val="FFC000"/>
                </a:solidFill>
              </a:rPr>
              <a:t>6- </a:t>
            </a:r>
            <a:r>
              <a:rPr lang="fr-FR" sz="2400" b="1" dirty="0"/>
              <a:t>Conclusion et Perspectives Business</a:t>
            </a:r>
            <a:endParaRPr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F58047-415C-8DBA-C2C1-1B122AD188FF}"/>
              </a:ext>
            </a:extLst>
          </p:cNvPr>
          <p:cNvSpPr txBox="1"/>
          <p:nvPr/>
        </p:nvSpPr>
        <p:spPr>
          <a:xfrm>
            <a:off x="256032" y="234648"/>
            <a:ext cx="2548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93B"/>
                </a:solidFill>
                <a:latin typeface="Montserrat"/>
              </a:defRPr>
            </a:pPr>
            <a:r>
              <a:rPr lang="fr-FR" sz="3600" b="1" dirty="0">
                <a:solidFill>
                  <a:srgbClr val="FFC000"/>
                </a:solidFill>
              </a:rPr>
              <a:t>PLAN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389485125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ontserrat"/>
              </a:defRPr>
            </a:pPr>
            <a:r>
              <a:rPr dirty="0"/>
              <a:t>0</a:t>
            </a:r>
            <a:r>
              <a:rPr lang="fr-FR" dirty="0"/>
              <a:t>1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Montserrat"/>
              </a:defRPr>
            </a:pPr>
            <a:r>
              <a:t>La Chaîne de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Montserrat"/>
              </a:defRPr>
            </a:pPr>
            <a:r>
              <a:t>de la Donnée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Montserrat"/>
              </a:defRPr>
            </a:pPr>
            <a:r>
              <a:t>Du Web Scraping à l'intelligence exploitable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27432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2D2D2D"/>
                </a:solidFill>
                <a:latin typeface="Montserrat"/>
              </a:defRPr>
            </a:pPr>
            <a:r>
              <a:rPr dirty="0"/>
              <a:t>Extraction </a:t>
            </a:r>
            <a:r>
              <a:rPr dirty="0" err="1"/>
              <a:t>automatisée</a:t>
            </a:r>
            <a:r>
              <a:rPr dirty="0"/>
              <a:t> via Selenium (Python)</a:t>
            </a:r>
          </a:p>
          <a:p>
            <a:pPr>
              <a:spcAft>
                <a:spcPts val="1800"/>
              </a:spcAft>
              <a:defRPr sz="1500">
                <a:solidFill>
                  <a:srgbClr val="2D2D2D"/>
                </a:solidFill>
                <a:latin typeface="Montserrat"/>
              </a:defRPr>
            </a:pPr>
            <a:r>
              <a:rPr dirty="0" err="1"/>
              <a:t>Nettoyage</a:t>
            </a:r>
            <a:r>
              <a:rPr dirty="0"/>
              <a:t> et exploration </a:t>
            </a:r>
            <a:r>
              <a:rPr dirty="0" err="1"/>
              <a:t>approfondie</a:t>
            </a:r>
            <a:r>
              <a:rPr dirty="0"/>
              <a:t> (EDA)</a:t>
            </a:r>
          </a:p>
          <a:p>
            <a:pPr>
              <a:spcAft>
                <a:spcPts val="1800"/>
              </a:spcAft>
              <a:defRPr sz="1500">
                <a:solidFill>
                  <a:srgbClr val="2D2D2D"/>
                </a:solidFill>
                <a:latin typeface="Montserrat"/>
              </a:defRPr>
            </a:pPr>
            <a:r>
              <a:rPr dirty="0"/>
              <a:t>Validation </a:t>
            </a:r>
            <a:r>
              <a:rPr dirty="0" err="1"/>
              <a:t>statistique</a:t>
            </a:r>
            <a:r>
              <a:rPr dirty="0"/>
              <a:t> : ANOVA, Student, χ², Pearson</a:t>
            </a:r>
          </a:p>
          <a:p>
            <a:pPr>
              <a:spcAft>
                <a:spcPts val="1800"/>
              </a:spcAft>
              <a:defRPr sz="1500">
                <a:solidFill>
                  <a:srgbClr val="2D2D2D"/>
                </a:solidFill>
                <a:latin typeface="Montserrat"/>
              </a:defRPr>
            </a:pPr>
            <a:r>
              <a:rPr dirty="0"/>
              <a:t>Modélisation ML : Régression, Random Forest, </a:t>
            </a:r>
            <a:r>
              <a:rPr dirty="0" err="1"/>
              <a:t>XGBoost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7772400" y="1371600"/>
            <a:ext cx="38404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4AF37"/>
                </a:solidFill>
                <a:latin typeface="Montserrat"/>
              </a:defRPr>
            </a:pPr>
            <a:r>
              <a:t>MODÈLE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XGBoost (Log)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2560320" cy="914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ontserrat"/>
              </a:defRPr>
            </a:pPr>
            <a:r>
              <a:t>R²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291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Montserrat"/>
              </a:defRPr>
            </a:pPr>
            <a:r>
              <a:t>83.62%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931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ontserrat"/>
              </a:defRPr>
            </a:pPr>
            <a: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206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55 410 DH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54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ontserrat"/>
              </a:defRPr>
            </a:pPr>
            <a:r>
              <a:t>MAE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029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23 633 DH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669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ontserrat"/>
              </a:defRPr>
            </a:pPr>
            <a:r>
              <a:t>Entraîné en 99.29s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623C8550-D618-6F8E-5CBE-A7358D7B7708}"/>
              </a:ext>
            </a:extLst>
          </p:cNvPr>
          <p:cNvSpPr/>
          <p:nvPr/>
        </p:nvSpPr>
        <p:spPr>
          <a:xfrm>
            <a:off x="305" y="6815328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ontserrat"/>
              </a:defRPr>
            </a:pPr>
            <a:r>
              <a:rPr dirty="0"/>
              <a:t>0</a:t>
            </a:r>
            <a:r>
              <a:rPr lang="fr-FR" dirty="0"/>
              <a:t>2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Montserrat"/>
              </a:defRPr>
            </a:pPr>
            <a:r>
              <a:t>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Montserrat"/>
              </a:defRPr>
            </a:pPr>
            <a:r>
              <a:t>et Modélisation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Montserrat"/>
              </a:defRPr>
            </a:pPr>
            <a:r>
              <a:t>Un socle robuste pour une analyse décisionnelle fiable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ontserrat"/>
              </a:defRPr>
            </a:pPr>
            <a:r>
              <a:t>Modèle en Étoile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ontserrat"/>
              </a:defRPr>
            </a:pPr>
            <a:r>
              <a:t>Star Schema structuré pour une organisation optimale des données dimensionnelles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ontserrat"/>
              </a:defRPr>
            </a:pPr>
            <a:r>
              <a:t>Séparation stricte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91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ontserrat"/>
              </a:defRPr>
            </a:pPr>
            <a:r>
              <a:t>Table de Faits / Dimensions clairement délimitées et normalisées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ontserrat"/>
              </a:defRPr>
            </a:pPr>
            <a:r>
              <a:t>Mesures DAX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9834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ontserrat"/>
              </a:defRPr>
            </a:pPr>
            <a:r>
              <a:t>Calculs optimisés pour des performances de reporting en temps réel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983508-1746-4D11-AEB9-02B905DB0667}"/>
              </a:ext>
            </a:extLst>
          </p:cNvPr>
          <p:cNvSpPr/>
          <p:nvPr/>
        </p:nvSpPr>
        <p:spPr>
          <a:xfrm>
            <a:off x="305" y="6815328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ontserrat"/>
              </a:defRPr>
            </a:pPr>
            <a:r>
              <a:rPr dirty="0"/>
              <a:t>0</a:t>
            </a:r>
            <a:r>
              <a:rPr lang="fr-FR" dirty="0"/>
              <a:t>3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Analyse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Macro-Économique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9041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ontserrat"/>
              </a:defRPr>
            </a:pPr>
            <a:r>
              <a:rPr sz="2000" dirty="0"/>
              <a:t>Casablanca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476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F37"/>
                </a:solidFill>
                <a:latin typeface="Montserrat"/>
              </a:defRPr>
            </a:pPr>
            <a:r>
              <a:rPr dirty="0"/>
              <a:t>15 000 </a:t>
            </a:r>
            <a:r>
              <a:rPr dirty="0" err="1"/>
              <a:t>annonces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527913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Axe Rabat-Tanger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44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ontserrat"/>
              </a:defRPr>
            </a:pPr>
            <a:r>
              <a:t>Deuxième pôle structurant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ontserrat"/>
              </a:defRPr>
            </a:pPr>
            <a:r>
              <a:t>Domination Européenne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53035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Montserrat"/>
              </a:defRPr>
            </a:pPr>
            <a:r>
              <a:t>Volkswagen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ontserrat"/>
              </a:defRPr>
            </a:pPr>
            <a:r>
              <a:t>3 700 annonces — Leader incontesté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377440"/>
            <a:ext cx="53035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Montserrat"/>
              </a:defRPr>
            </a:pPr>
            <a:r>
              <a:t>Renault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ontserrat"/>
              </a:defRPr>
            </a:pPr>
            <a:r>
              <a:t>3 000 annonces — Forte présence historique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474720"/>
            <a:ext cx="53035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Montserrat"/>
              </a:defRPr>
            </a:pPr>
            <a:r>
              <a:t>Mercedes-Benz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ontserrat"/>
              </a:defRPr>
            </a:pPr>
            <a:r>
              <a:t>2 500 annonces — 3ᵉ position premium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ontserrat"/>
              </a:defRPr>
            </a:pPr>
            <a:r>
              <a:rPr dirty="0"/>
              <a:t>0</a:t>
            </a:r>
            <a:r>
              <a:rPr lang="fr-FR" dirty="0"/>
              <a:t>4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Montserrat"/>
              </a:defRPr>
            </a:pPr>
            <a:r>
              <a:t>Analyse Comportementale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Montserrat"/>
              </a:defRPr>
            </a:pPr>
            <a:r>
              <a:rPr dirty="0"/>
              <a:t>Ce qui fait </a:t>
            </a:r>
            <a:r>
              <a:rPr dirty="0" err="1"/>
              <a:t>réellement</a:t>
            </a:r>
            <a:r>
              <a:rPr dirty="0"/>
              <a:t> varier le prix </a:t>
            </a:r>
            <a:r>
              <a:rPr dirty="0" err="1"/>
              <a:t>d'une</a:t>
            </a:r>
            <a:r>
              <a:rPr dirty="0"/>
              <a:t> voiture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F37"/>
                </a:solidFill>
                <a:latin typeface="Montserrat"/>
              </a:defRPr>
            </a:pPr>
            <a:r>
              <a:t>Corrélation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ontserrat"/>
              </a:defRPr>
            </a:pPr>
            <a:r>
              <a:t>Prix / Kilométrage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ontserrat"/>
              </a:defRPr>
            </a:pPr>
            <a:r>
              <a:t>Relation forte et négative : plus le kilométrage augmente, plus le prix baisse significativement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36576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2560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F37"/>
                </a:solidFill>
                <a:latin typeface="Montserrat"/>
              </a:defRPr>
            </a:pPr>
            <a:r>
              <a:t>Décote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Sévère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ontserrat"/>
              </a:defRPr>
            </a:pPr>
            <a:r>
              <a:t>300 000 MAD (-5 ans)</a:t>
            </a:r>
            <a:br/>
            <a:r>
              <a:t>↓</a:t>
            </a:r>
            <a:br/>
            <a:r>
              <a:t>70 000 MAD (+15 ans)</a:t>
            </a:r>
            <a:br/>
            <a:br/>
            <a:r>
              <a:t>Perte de valeur drastique avec l'âge du véhicule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2860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F37"/>
                </a:solidFill>
                <a:latin typeface="Montserrat"/>
              </a:defRPr>
            </a:pPr>
            <a:r>
              <a:t>Boîte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ontserrat"/>
              </a:defRPr>
            </a:pPr>
            <a:r>
              <a:t>Automatique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ontserrat"/>
              </a:defRPr>
            </a:pPr>
            <a:r>
              <a:t>266 994 MAD en moyenne</a:t>
            </a:r>
            <a:br/>
            <a:r>
              <a:t>vs</a:t>
            </a:r>
            <a:br/>
            <a:r>
              <a:t>109 639 MAD en manuelle</a:t>
            </a:r>
            <a:br/>
            <a:br/>
            <a:r>
              <a:t>Surcote de +143%</a:t>
            </a:r>
          </a:p>
        </p:txBody>
      </p:sp>
      <p:sp>
        <p:nvSpPr>
          <p:cNvPr id="18" name="8691cdde-7185-4573-bbb4-631877cdffe2">
            <a:extLst>
              <a:ext uri="{FF2B5EF4-FFF2-40B4-BE49-F238E27FC236}">
                <a16:creationId xmlns:a16="http://schemas.microsoft.com/office/drawing/2014/main" id="{A483B3E8-2242-3E82-C3A7-5C1CF879B16E}"/>
              </a:ext>
            </a:extLst>
          </p:cNvPr>
          <p:cNvSpPr/>
          <p:nvPr/>
        </p:nvSpPr>
        <p:spPr>
          <a:xfrm>
            <a:off x="305" y="6815328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ontserrat"/>
              </a:defRPr>
            </a:pPr>
            <a:r>
              <a:rPr dirty="0"/>
              <a:t>0</a:t>
            </a:r>
            <a:r>
              <a:rPr lang="fr-FR" dirty="0"/>
              <a:t>5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Montserrat"/>
              </a:defRPr>
            </a:pPr>
            <a:r>
              <a:t>Le Produit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Montserrat"/>
              </a:defRPr>
            </a:pPr>
            <a:r>
              <a:rPr dirty="0" err="1"/>
              <a:t>Écosystème</a:t>
            </a:r>
            <a:r>
              <a:rPr dirty="0"/>
              <a:t> </a:t>
            </a:r>
            <a:r>
              <a:rPr lang="fr-FR" dirty="0"/>
              <a:t>de notre modèle </a:t>
            </a:r>
            <a:r>
              <a:rPr dirty="0"/>
              <a:t>IA </a:t>
            </a:r>
            <a:r>
              <a:rPr lang="fr-FR" dirty="0"/>
              <a:t>:</a:t>
            </a:r>
            <a:r>
              <a:rPr dirty="0"/>
              <a:t> De </a:t>
            </a:r>
            <a:r>
              <a:rPr dirty="0" err="1"/>
              <a:t>l'analyse</a:t>
            </a:r>
            <a:r>
              <a:rPr dirty="0"/>
              <a:t> </a:t>
            </a:r>
            <a:r>
              <a:rPr dirty="0" err="1"/>
              <a:t>statistique</a:t>
            </a:r>
            <a:r>
              <a:rPr dirty="0"/>
              <a:t> à </a:t>
            </a:r>
            <a:r>
              <a:rPr dirty="0" err="1"/>
              <a:t>l'outil</a:t>
            </a:r>
            <a:r>
              <a:rPr dirty="0"/>
              <a:t> métier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944849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98448" y="3547872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ontserrat"/>
              </a:defRPr>
            </a:pPr>
            <a:r>
              <a:t>Arbre de</a:t>
            </a:r>
            <a:br/>
            <a:r>
              <a:t>Décomposition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ontserrat"/>
              </a:defRPr>
            </a:pPr>
            <a:r>
              <a:t>Isolation de l'effet-modèle</a:t>
            </a:r>
          </a:p>
        </p:txBody>
      </p:sp>
      <p:sp>
        <p:nvSpPr>
          <p:cNvPr id="10" name="Oval 9"/>
          <p:cNvSpPr/>
          <p:nvPr/>
        </p:nvSpPr>
        <p:spPr>
          <a:xfrm>
            <a:off x="4041648" y="3547872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ontserrat"/>
              </a:defRPr>
            </a:pPr>
            <a:r>
              <a:t>Surcote</a:t>
            </a:r>
            <a:br/>
            <a:r>
              <a:t>Détectée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ontserrat"/>
              </a:defRPr>
            </a:pPr>
            <a:r>
              <a:t>VW T-Roc à 312 433 MAD</a:t>
            </a:r>
          </a:p>
        </p:txBody>
      </p:sp>
      <p:sp>
        <p:nvSpPr>
          <p:cNvPr id="13" name="Oval 12"/>
          <p:cNvSpPr/>
          <p:nvPr/>
        </p:nvSpPr>
        <p:spPr>
          <a:xfrm>
            <a:off x="6784848" y="3547872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2286000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ontserrat"/>
              </a:defRPr>
            </a:pPr>
            <a:r>
              <a:rPr dirty="0" err="1"/>
              <a:t>Simulateur</a:t>
            </a:r>
            <a:br>
              <a:rPr dirty="0"/>
            </a:br>
            <a:r>
              <a:rPr dirty="0"/>
              <a:t>"</a:t>
            </a:r>
            <a:r>
              <a:rPr lang="fr-FR" sz="1400" b="1" dirty="0"/>
              <a:t> modèle</a:t>
            </a:r>
            <a:r>
              <a:rPr dirty="0"/>
              <a:t> IA"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ontserrat"/>
              </a:defRPr>
            </a:pPr>
            <a:r>
              <a:t>Développé sous Streamlit</a:t>
            </a:r>
          </a:p>
        </p:txBody>
      </p:sp>
      <p:sp>
        <p:nvSpPr>
          <p:cNvPr id="16" name="Oval 15"/>
          <p:cNvSpPr/>
          <p:nvPr/>
        </p:nvSpPr>
        <p:spPr>
          <a:xfrm>
            <a:off x="9528048" y="3547872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ontserrat"/>
              </a:defRPr>
            </a:pPr>
            <a:r>
              <a:t>Déploiement</a:t>
            </a:r>
            <a:br/>
            <a: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ontserrat"/>
              </a:defRPr>
            </a:pPr>
            <a:r>
              <a:t>Hugging Face Spaces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109992-8CCB-0D81-13BB-C89D43210988}"/>
              </a:ext>
            </a:extLst>
          </p:cNvPr>
          <p:cNvSpPr/>
          <p:nvPr/>
        </p:nvSpPr>
        <p:spPr>
          <a:xfrm>
            <a:off x="305" y="6815328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ontserrat"/>
              </a:defRPr>
            </a:pPr>
            <a:r>
              <a:rPr dirty="0"/>
              <a:t>0</a:t>
            </a:r>
            <a:r>
              <a:rPr lang="fr-FR" dirty="0"/>
              <a:t>6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Montserrat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Montserrat"/>
              </a:defRPr>
            </a:pPr>
            <a:r>
              <a:t>et Perspectives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Montserrat"/>
              </a:defRPr>
            </a:pPr>
            <a:r>
              <a:t>D'un projet académique à un outil à fort potentiel métier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5029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F37"/>
                </a:solidFill>
                <a:latin typeface="Montserrat"/>
              </a:defRPr>
            </a:pPr>
            <a:r>
              <a:t>CAS D'USAGE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Scoring crédit-auto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069080"/>
            <a:ext cx="1828800" cy="914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Pricing dynamique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09160"/>
            <a:ext cx="1828800" cy="914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Aide à la décision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349240"/>
            <a:ext cx="1828800" cy="914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92608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200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F37"/>
                </a:solidFill>
                <a:latin typeface="Montserrat"/>
              </a:defRPr>
            </a:pPr>
            <a:r>
              <a:t>PERSPECTIVES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ontserrat"/>
              </a:defRPr>
            </a:pPr>
            <a:r>
              <a:t>Enrichissement multi-plateformes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069080"/>
            <a:ext cx="1828800" cy="914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ontserrat"/>
              </a:defRPr>
            </a:pPr>
            <a:r>
              <a:t>Intégration temps réel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709160"/>
            <a:ext cx="1828800" cy="914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ontserrat"/>
              </a:defRPr>
            </a:pPr>
            <a:r>
              <a:t>Expansion géographique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5349240"/>
            <a:ext cx="1828800" cy="914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ontserrat"/>
              </a:defRPr>
            </a:pPr>
            <a:r>
              <a:t>Predictive Auto Maroc  ·  Mostapha M'Bairik — Data Analyst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B9827-4F51-78D1-D2B3-E5F9348A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8E9785-181B-4E94-B52C-F742B4726955}"/>
              </a:ext>
            </a:extLst>
          </p:cNvPr>
          <p:cNvSpPr txBox="1"/>
          <p:nvPr/>
        </p:nvSpPr>
        <p:spPr>
          <a:xfrm>
            <a:off x="3246120" y="2651760"/>
            <a:ext cx="57881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Montserrat"/>
              </a:defRPr>
            </a:pPr>
            <a:r>
              <a:rPr lang="fr-FR" dirty="0"/>
              <a:t>Merci </a:t>
            </a:r>
          </a:p>
          <a:p>
            <a:pPr algn="l">
              <a:defRPr sz="4000" b="1">
                <a:solidFill>
                  <a:srgbClr val="1E293B"/>
                </a:solidFill>
                <a:latin typeface="Montserrat"/>
              </a:defRPr>
            </a:pPr>
            <a:r>
              <a:rPr lang="fr-FR" dirty="0"/>
              <a:t>De votre attention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48BF95-C128-9FAB-C19A-B35A7E6AD730}"/>
              </a:ext>
            </a:extLst>
          </p:cNvPr>
          <p:cNvSpPr txBox="1"/>
          <p:nvPr/>
        </p:nvSpPr>
        <p:spPr>
          <a:xfrm>
            <a:off x="914400" y="4297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Pricing dynamique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8C0CE9-20EE-02D1-1DDB-3CD439D8DDE5}"/>
              </a:ext>
            </a:extLst>
          </p:cNvPr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CBC7FC-6115-6875-8AA4-17EF0B09DC2B}"/>
              </a:ext>
            </a:extLst>
          </p:cNvPr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ontserrat"/>
              </a:defRPr>
            </a:pPr>
            <a:r>
              <a:t>Predictive Auto Maroc  ·  Mostapha M'Bairik — Data Analyst</a:t>
            </a:r>
          </a:p>
        </p:txBody>
      </p:sp>
    </p:spTree>
    <p:extLst>
      <p:ext uri="{BB962C8B-B14F-4D97-AF65-F5344CB8AC3E}">
        <p14:creationId xmlns:p14="http://schemas.microsoft.com/office/powerpoint/2010/main" val="38502654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424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Mostapha m'bairik</cp:lastModifiedBy>
  <cp:revision>9</cp:revision>
  <dcterms:created xsi:type="dcterms:W3CDTF">2013-01-27T09:14:16Z</dcterms:created>
  <dcterms:modified xsi:type="dcterms:W3CDTF">2026-07-06T13:18:16Z</dcterms:modified>
  <cp:category/>
</cp:coreProperties>
</file>